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39"/>
  </p:notesMasterIdLst>
  <p:sldIdLst>
    <p:sldId id="256" r:id="rId2"/>
    <p:sldId id="289" r:id="rId3"/>
    <p:sldId id="296" r:id="rId4"/>
    <p:sldId id="290" r:id="rId5"/>
    <p:sldId id="282" r:id="rId6"/>
    <p:sldId id="260" r:id="rId7"/>
    <p:sldId id="257" r:id="rId8"/>
    <p:sldId id="258" r:id="rId9"/>
    <p:sldId id="261" r:id="rId10"/>
    <p:sldId id="264" r:id="rId11"/>
    <p:sldId id="262" r:id="rId12"/>
    <p:sldId id="265" r:id="rId13"/>
    <p:sldId id="266" r:id="rId14"/>
    <p:sldId id="267" r:id="rId15"/>
    <p:sldId id="268" r:id="rId16"/>
    <p:sldId id="263" r:id="rId17"/>
    <p:sldId id="269" r:id="rId18"/>
    <p:sldId id="270" r:id="rId19"/>
    <p:sldId id="295" r:id="rId20"/>
    <p:sldId id="280" r:id="rId21"/>
    <p:sldId id="281" r:id="rId22"/>
    <p:sldId id="272" r:id="rId23"/>
    <p:sldId id="273" r:id="rId24"/>
    <p:sldId id="284" r:id="rId25"/>
    <p:sldId id="274" r:id="rId26"/>
    <p:sldId id="275" r:id="rId27"/>
    <p:sldId id="291" r:id="rId28"/>
    <p:sldId id="293" r:id="rId29"/>
    <p:sldId id="292" r:id="rId30"/>
    <p:sldId id="294" r:id="rId31"/>
    <p:sldId id="277" r:id="rId32"/>
    <p:sldId id="279" r:id="rId33"/>
    <p:sldId id="278" r:id="rId34"/>
    <p:sldId id="285" r:id="rId35"/>
    <p:sldId id="286" r:id="rId36"/>
    <p:sldId id="287" r:id="rId37"/>
    <p:sldId id="28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4F29E-D52E-4205-AFC1-750B3C1348EF}">
          <p14:sldIdLst>
            <p14:sldId id="256"/>
            <p14:sldId id="289"/>
            <p14:sldId id="296"/>
            <p14:sldId id="290"/>
            <p14:sldId id="282"/>
            <p14:sldId id="260"/>
            <p14:sldId id="257"/>
            <p14:sldId id="258"/>
            <p14:sldId id="261"/>
            <p14:sldId id="264"/>
            <p14:sldId id="262"/>
            <p14:sldId id="265"/>
            <p14:sldId id="266"/>
            <p14:sldId id="267"/>
            <p14:sldId id="268"/>
            <p14:sldId id="263"/>
            <p14:sldId id="269"/>
            <p14:sldId id="270"/>
            <p14:sldId id="295"/>
            <p14:sldId id="280"/>
            <p14:sldId id="281"/>
            <p14:sldId id="272"/>
            <p14:sldId id="273"/>
            <p14:sldId id="284"/>
            <p14:sldId id="274"/>
            <p14:sldId id="275"/>
            <p14:sldId id="291"/>
            <p14:sldId id="293"/>
            <p14:sldId id="292"/>
            <p14:sldId id="294"/>
            <p14:sldId id="277"/>
            <p14:sldId id="279"/>
            <p14:sldId id="278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91E975-4880-48E0-B584-E67D047F3726}" v="1205" dt="2024-04-20T16:17:47.973"/>
    <p1510:client id="{BC4C91D4-C852-34AB-5F37-E40BFBE1FCCF}" v="504" dt="2024-04-19T21:58:04.186"/>
    <p1510:client id="{FE97ED58-F175-7B27-6517-CFC995429442}" v="240" dt="2024-04-20T15:44:39.7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79903" autoAdjust="0"/>
  </p:normalViewPr>
  <p:slideViewPr>
    <p:cSldViewPr snapToGrid="0">
      <p:cViewPr>
        <p:scale>
          <a:sx n="60" d="100"/>
          <a:sy n="60" d="100"/>
        </p:scale>
        <p:origin x="684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77E3B-8E15-4FC2-A443-74BD8C448BB3}" type="datetimeFigureOut">
              <a:t>12/1/2024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6E517-EE48-4726-BCCA-6690B7B0D84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4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NCES: National center for education and 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6E517-EE48-4726-BCCA-6690B7B0D84E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137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6E517-EE48-4726-BCCA-6690B7B0D8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52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Alaska and DC don’t have public 2 year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6E517-EE48-4726-BCCA-6690B7B0D8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560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6E517-EE48-4726-BCCA-6690B7B0D84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76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Disproportional spread of tuition in 2y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West 2y: low: $960 and high $3160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New England 2y low: $3,180 and high $6810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Whereas the 4y institutions, tuitions are range except for NE which is tuitions range is higher than the rest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6E517-EE48-4726-BCCA-6690B7B0D8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96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year – no surprises that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6E517-EE48-4726-BCCA-6690B7B0D84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15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6E517-EE48-4726-BCCA-6690B7B0D84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26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6E517-EE48-4726-BCCA-6690B7B0D84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82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away: New England and Middle States that are starting their degree in a 2 year public university can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6E517-EE48-4726-BCCA-6690B7B0D84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830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of UOM TC vs 2 year national, AIC is 490.71, which is greater than this model. </a:t>
            </a:r>
          </a:p>
          <a:p>
            <a:r>
              <a:rPr lang="en-US" dirty="0"/>
              <a:t>Root mean square error is greater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6E517-EE48-4726-BCCA-6690B7B0D84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744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46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2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38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85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219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337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54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06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2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08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8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8417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87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0" y="753765"/>
            <a:ext cx="4572000" cy="3056235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Education Costs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48112" y="4360676"/>
            <a:ext cx="3881886" cy="207741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Advanced Level: </a:t>
            </a:r>
            <a:endParaRPr lang="en-US" dirty="0"/>
          </a:p>
          <a:p>
            <a:pPr algn="l"/>
            <a:r>
              <a:rPr lang="en-US">
                <a:solidFill>
                  <a:srgbClr val="FFFFFF">
                    <a:alpha val="70000"/>
                  </a:srgbClr>
                </a:solidFill>
              </a:rPr>
              <a:t>Team Name: Brain Melders</a:t>
            </a:r>
            <a:endParaRPr lang="en-US"/>
          </a:p>
          <a:p>
            <a:pPr algn="l"/>
            <a:r>
              <a:rPr lang="en-US" dirty="0"/>
              <a:t>      </a:t>
            </a:r>
            <a:r>
              <a:rPr lang="en-US"/>
              <a:t>Bethelhem</a:t>
            </a:r>
            <a:r>
              <a:rPr lang="en-US" dirty="0"/>
              <a:t> Kassa</a:t>
            </a: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dirty="0"/>
              <a:t>      Beatrice Thao</a:t>
            </a:r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  <p:pic>
        <p:nvPicPr>
          <p:cNvPr id="94" name="Picture 93" descr="Colored pencils inside a pencil holder which is on top of a wood table">
            <a:extLst>
              <a:ext uri="{FF2B5EF4-FFF2-40B4-BE49-F238E27FC236}">
                <a16:creationId xmlns:a16="http://schemas.microsoft.com/office/drawing/2014/main" id="{75468CD6-C338-0E81-FC88-E7EBAE1EB0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226" r="1" b="1"/>
          <a:stretch/>
        </p:blipFill>
        <p:spPr>
          <a:xfrm>
            <a:off x="2" y="10"/>
            <a:ext cx="5578823" cy="6028246"/>
          </a:xfrm>
          <a:custGeom>
            <a:avLst/>
            <a:gdLst/>
            <a:ahLst/>
            <a:cxnLst/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</p:spPr>
      </p:pic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B47A9921-6509-49C2-BEBF-924F28066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F0E31-16B6-D2A7-E2D0-A8D6A1DAD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5272F-B18B-D2B0-ACE7-79968722B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Average total cost of postsecondary institution differ (NCES)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FFFF">
                    <a:alpha val="70000"/>
                  </a:srgbClr>
                </a:solidFill>
                <a:latin typeface="Arial"/>
                <a:cs typeface="Arial"/>
              </a:rPr>
              <a:t>Control of institution: Public, Private nonprofit, Private for-profit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FFFF">
                    <a:alpha val="70000"/>
                  </a:srgbClr>
                </a:solidFill>
                <a:latin typeface="Arial"/>
                <a:cs typeface="Arial"/>
              </a:rPr>
              <a:t>Level of institution: Four-Year </a:t>
            </a:r>
            <a:r>
              <a:rPr lang="en-US">
                <a:solidFill>
                  <a:srgbClr val="FFFFFF">
                    <a:alpha val="70000"/>
                  </a:srgbClr>
                </a:solidFill>
                <a:latin typeface="Arial"/>
                <a:cs typeface="Arial"/>
              </a:rPr>
              <a:t>and</a:t>
            </a:r>
            <a:r>
              <a:rPr lang="en-US" dirty="0">
                <a:solidFill>
                  <a:srgbClr val="FFFFFF">
                    <a:alpha val="70000"/>
                  </a:srgbClr>
                </a:solidFill>
                <a:latin typeface="Arial"/>
                <a:cs typeface="Arial"/>
              </a:rPr>
              <a:t> Two-Year</a:t>
            </a:r>
            <a:endParaRPr lang="en-US">
              <a:solidFill>
                <a:srgbClr val="FFFFFF">
                  <a:alpha val="70000"/>
                </a:srgbClr>
              </a:solidFill>
              <a:latin typeface="Arial"/>
              <a:cs typeface="Arial"/>
            </a:endParaRPr>
          </a:p>
          <a:p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Reasons for tuition </a:t>
            </a:r>
            <a:r>
              <a:rPr lang="en-US">
                <a:solidFill>
                  <a:srgbClr val="FFFFFF">
                    <a:alpha val="70000"/>
                  </a:srgbClr>
                </a:solidFill>
              </a:rPr>
              <a:t>increases:</a:t>
            </a: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FFFFFF">
                    <a:alpha val="70000"/>
                  </a:srgbClr>
                </a:solidFill>
              </a:rPr>
              <a:t>    1. </a:t>
            </a:r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Inflation and increased operational cost</a:t>
            </a:r>
          </a:p>
          <a:p>
            <a:pPr marL="0" indent="0">
              <a:buNone/>
            </a:pPr>
            <a:r>
              <a:rPr lang="en-US">
                <a:solidFill>
                  <a:srgbClr val="FFFFFF">
                    <a:alpha val="70000"/>
                  </a:srgbClr>
                </a:solidFill>
              </a:rPr>
              <a:t>    2. </a:t>
            </a:r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Education funding cuts (center on budget and policy priorities)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263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DF40C-1781-391E-1419-744ED5FF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Introduction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291A-7172-B742-3E26-0724EE536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Analyze on 3 sets of data</a:t>
            </a:r>
          </a:p>
          <a:p>
            <a:pPr lvl="1"/>
            <a:r>
              <a:rPr lang="en-US" dirty="0"/>
              <a:t>National Education Cost Data, from 1986 to 2023</a:t>
            </a:r>
          </a:p>
          <a:p>
            <a:pPr lvl="2" algn="just"/>
            <a:r>
              <a:rPr lang="en-US" dirty="0"/>
              <a:t>Public 2-year, 4-year, Private			</a:t>
            </a:r>
          </a:p>
          <a:p>
            <a:pPr lvl="2" algn="just"/>
            <a:r>
              <a:rPr lang="en-US" dirty="0"/>
              <a:t>Regional data</a:t>
            </a:r>
          </a:p>
          <a:p>
            <a:pPr lvl="2" algn="just"/>
            <a:r>
              <a:rPr lang="en-US" dirty="0"/>
              <a:t>State data</a:t>
            </a:r>
          </a:p>
          <a:p>
            <a:pPr lvl="2" algn="just"/>
            <a:r>
              <a:rPr lang="en-US" dirty="0"/>
              <a:t>Consumer Price Index (CPI) and conversion rate</a:t>
            </a:r>
          </a:p>
          <a:p>
            <a:pPr lvl="1"/>
            <a:r>
              <a:rPr lang="en-US" dirty="0"/>
              <a:t>Minnesota Educational Cost Data, from 1970 to 2019</a:t>
            </a:r>
          </a:p>
          <a:p>
            <a:pPr lvl="1"/>
            <a:r>
              <a:rPr lang="en-US" dirty="0"/>
              <a:t>Salary Potential Data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774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95E22-18D3-E4CD-5F22-451B3E405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54125-3E15-2627-CC67-AE6FAF22C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Convert current dollars into 2023-dollar value</a:t>
            </a:r>
          </a:p>
          <a:p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No missing data except Table CP-3 (</a:t>
            </a:r>
            <a:r>
              <a:rPr lang="en-US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Average Published Tuition and Fees at Public Institutions by State in Current Dollars and in 2023 Dollars, 2004-05 to 2023-24</a:t>
            </a:r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) which doesn't have records for Alaska and District of Colombia (Only for public two-year): remove NA's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67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7A2EE-EDD2-F44A-08AB-9CF792A28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10668000" cy="1524000"/>
          </a:xfrm>
        </p:spPr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      Data Analysis Methodologies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2B96D-DCA2-2B20-2EB4-D33B869A5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67" y="2286000"/>
            <a:ext cx="10837333" cy="381808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R for analysis</a:t>
            </a:r>
          </a:p>
          <a:p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Reshape the data</a:t>
            </a:r>
          </a:p>
          <a:p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One- way Anova: statistical difference</a:t>
            </a:r>
            <a:endParaRPr lang="en-US" dirty="0"/>
          </a:p>
          <a:p>
            <a:r>
              <a:rPr lang="en-US" dirty="0" err="1">
                <a:solidFill>
                  <a:srgbClr val="FFFFFF">
                    <a:alpha val="70000"/>
                  </a:srgbClr>
                </a:solidFill>
              </a:rPr>
              <a:t>TukeyHSD</a:t>
            </a:r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: to find significant differences among means</a:t>
            </a:r>
          </a:p>
          <a:p>
            <a:r>
              <a:rPr lang="en-US" dirty="0" err="1">
                <a:solidFill>
                  <a:srgbClr val="FFFFFF">
                    <a:alpha val="70000"/>
                  </a:srgbClr>
                </a:solidFill>
              </a:rPr>
              <a:t>Kmeans</a:t>
            </a:r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: to find similarities in the regional data</a:t>
            </a:r>
          </a:p>
          <a:p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Paired t-test </a:t>
            </a:r>
          </a:p>
          <a:p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Arima: to predict tuition</a:t>
            </a:r>
          </a:p>
        </p:txBody>
      </p:sp>
    </p:spTree>
    <p:extLst>
      <p:ext uri="{BB962C8B-B14F-4D97-AF65-F5344CB8AC3E}">
        <p14:creationId xmlns:p14="http://schemas.microsoft.com/office/powerpoint/2010/main" val="828703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9038C-1311-EFB4-881A-7A564FC0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      Statistical Summary of TABLE CP-1</a:t>
            </a:r>
          </a:p>
        </p:txBody>
      </p:sp>
      <p:pic>
        <p:nvPicPr>
          <p:cNvPr id="6" name="Content Placeholder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F1A1BCEC-ED0A-223A-5C4E-130F67AC6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95387" y="2139305"/>
            <a:ext cx="8613321" cy="3845377"/>
          </a:xfrm>
        </p:spPr>
      </p:pic>
    </p:spTree>
    <p:extLst>
      <p:ext uri="{BB962C8B-B14F-4D97-AF65-F5344CB8AC3E}">
        <p14:creationId xmlns:p14="http://schemas.microsoft.com/office/powerpoint/2010/main" val="698309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AB881E0-6668-6D50-A8B1-A81EB2650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064382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      </a:t>
            </a:r>
            <a:r>
              <a:rPr lang="en-US">
                <a:latin typeface="Sitka Subheading"/>
                <a:cs typeface="Calibri"/>
              </a:rPr>
              <a:t> </a:t>
            </a:r>
            <a:br>
              <a:rPr lang="en-US">
                <a:latin typeface="Sitka Subheading"/>
                <a:cs typeface="Calibri"/>
              </a:rPr>
            </a:br>
            <a:r>
              <a:rPr lang="en-US" b="1" u="sng">
                <a:latin typeface="Sitka Subheading"/>
                <a:cs typeface="Times New Roman"/>
              </a:rPr>
              <a:t>Tuition Trends</a:t>
            </a:r>
            <a:br>
              <a:rPr lang="en-US" sz="5400">
                <a:latin typeface="Calibri"/>
              </a:rPr>
            </a:b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938A2-B943-D57C-9D5F-68DB4A586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FF">
                    <a:alpha val="70000"/>
                  </a:srgbClr>
                </a:solidFill>
              </a:rPr>
              <a:t>Three of them show increase</a:t>
            </a:r>
          </a:p>
          <a:p>
            <a:r>
              <a:rPr lang="en-US">
                <a:solidFill>
                  <a:srgbClr val="FFFFFF">
                    <a:alpha val="70000"/>
                  </a:srgbClr>
                </a:solidFill>
              </a:rPr>
              <a:t>Private nonprofit Four-year:</a:t>
            </a:r>
          </a:p>
          <a:p>
            <a:pPr marL="0" indent="0">
              <a:buNone/>
            </a:pPr>
            <a:r>
              <a:rPr lang="en-US">
                <a:solidFill>
                  <a:srgbClr val="FFFFFF">
                    <a:alpha val="70000"/>
                  </a:srgbClr>
                </a:solidFill>
              </a:rPr>
              <a:t> sharp increase            </a:t>
            </a:r>
          </a:p>
        </p:txBody>
      </p:sp>
      <p:pic>
        <p:nvPicPr>
          <p:cNvPr id="2" name="Picture 1" descr="A graph of a graph showing the difference between college and college&#10;&#10;Description automatically generated">
            <a:extLst>
              <a:ext uri="{FF2B5EF4-FFF2-40B4-BE49-F238E27FC236}">
                <a16:creationId xmlns:a16="http://schemas.microsoft.com/office/drawing/2014/main" id="{17D5C4CB-FC8E-5413-E8F5-645F72E7A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332" y="1983618"/>
            <a:ext cx="6051622" cy="460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13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76A9A-B721-230A-412C-863A727E7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003905"/>
          </a:xfrm>
        </p:spPr>
        <p:txBody>
          <a:bodyPr>
            <a:normAutofit/>
          </a:bodyPr>
          <a:lstStyle/>
          <a:p>
            <a:r>
              <a:rPr lang="en-US" dirty="0"/>
              <a:t>Statistical </a:t>
            </a:r>
            <a:r>
              <a:rPr lang="en-US"/>
              <a:t>Difference </a:t>
            </a:r>
            <a:r>
              <a:rPr lang="en-US" dirty="0"/>
              <a:t>in </a:t>
            </a:r>
            <a:r>
              <a:rPr lang="en-US"/>
              <a:t>College Tuition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CF73-6D24-1F5D-9352-6CF0CAF61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38476"/>
            <a:ext cx="10776857" cy="45558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Calibri"/>
                <a:ea typeface="+mn-lt"/>
                <a:cs typeface="+mn-lt"/>
              </a:rPr>
              <a:t>Hypothesis: H0: mu(pt) = mu(pf) = mu(np);  Ha: at least two </a:t>
            </a:r>
            <a:r>
              <a:rPr lang="en-US" sz="2400">
                <a:solidFill>
                  <a:srgbClr val="FFFFFF">
                    <a:alpha val="70000"/>
                  </a:srgbClr>
                </a:solidFill>
                <a:latin typeface="Calibri"/>
                <a:ea typeface="+mn-lt"/>
                <a:cs typeface="+mn-lt"/>
              </a:rPr>
              <a:t>average tuitions </a:t>
            </a:r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Calibri"/>
                <a:ea typeface="+mn-lt"/>
                <a:cs typeface="+mn-lt"/>
              </a:rPr>
              <a:t>are different</a:t>
            </a:r>
            <a:endParaRPr lang="en-US" sz="2400" dirty="0">
              <a:solidFill>
                <a:srgbClr val="FFFFFF">
                  <a:alpha val="70000"/>
                </a:srgbClr>
              </a:solidFill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Calibri"/>
                <a:ea typeface="+mn-lt"/>
                <a:cs typeface="+mn-lt"/>
              </a:rPr>
              <a:t>Using one-way Anova(IV has three levels and 1Dv)</a:t>
            </a:r>
            <a:endParaRPr lang="en-US" sz="2400" dirty="0">
              <a:solidFill>
                <a:srgbClr val="FFFFFF">
                  <a:alpha val="70000"/>
                </a:srgbClr>
              </a:solidFill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Calibri"/>
                <a:ea typeface="+mn-lt"/>
                <a:cs typeface="+mn-lt"/>
              </a:rPr>
              <a:t> F = </a:t>
            </a:r>
            <a:r>
              <a:rPr lang="en-US" sz="2400">
                <a:solidFill>
                  <a:srgbClr val="FFFFFF">
                    <a:alpha val="70000"/>
                  </a:srgbClr>
                </a:solidFill>
                <a:latin typeface="Calibri"/>
                <a:ea typeface="+mn-lt"/>
                <a:cs typeface="+mn-lt"/>
              </a:rPr>
              <a:t>23.09  </a:t>
            </a:r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Calibri"/>
                <a:ea typeface="+mn-lt"/>
                <a:cs typeface="+mn-lt"/>
              </a:rPr>
              <a:t>and p-value = </a:t>
            </a:r>
            <a:r>
              <a:rPr lang="en-US" sz="2400">
                <a:solidFill>
                  <a:srgbClr val="FFFFFF">
                    <a:alpha val="70000"/>
                  </a:srgbClr>
                </a:solidFill>
                <a:latin typeface="Calibri"/>
                <a:ea typeface="+mn-lt"/>
                <a:cs typeface="+mn-lt"/>
              </a:rPr>
              <a:t>0.000286</a:t>
            </a:r>
            <a:endParaRPr lang="en-US" sz="2400">
              <a:solidFill>
                <a:srgbClr val="FFFFFF">
                  <a:alpha val="70000"/>
                </a:srgbClr>
              </a:solidFill>
              <a:latin typeface="Calibri"/>
              <a:ea typeface="+mn-lt"/>
              <a:cs typeface="Calibri"/>
            </a:endParaRPr>
          </a:p>
          <a:p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Calibri"/>
                <a:ea typeface="+mn-lt"/>
                <a:cs typeface="+mn-lt"/>
              </a:rPr>
              <a:t>Since p-value &lt; 0.05, reject H0, there is sufficient evidence that at least two of the average tuition fees are different</a:t>
            </a:r>
            <a:endParaRPr lang="en-US" sz="2400" dirty="0">
              <a:solidFill>
                <a:srgbClr val="FFFFFF">
                  <a:alpha val="70000"/>
                </a:srgbClr>
              </a:solidFill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Calibri"/>
                <a:ea typeface="+mn-lt"/>
                <a:cs typeface="+mn-lt"/>
              </a:rPr>
              <a:t>The average tuition fees between Public Four-Year &amp; Private Nonprofit Four-Year, Public Two-Year &amp; Private Nonprofit Four-Year</a:t>
            </a:r>
            <a:r>
              <a:rPr lang="en-US" sz="2400">
                <a:solidFill>
                  <a:srgbClr val="FFFFFF">
                    <a:alpha val="70000"/>
                  </a:srgbClr>
                </a:solidFill>
                <a:latin typeface="Calibri"/>
                <a:ea typeface="+mn-lt"/>
                <a:cs typeface="+mn-lt"/>
              </a:rPr>
              <a:t>  are significantly different</a:t>
            </a:r>
            <a:endParaRPr lang="en-US" sz="2400" dirty="0">
              <a:solidFill>
                <a:srgbClr val="FFFFFF">
                  <a:alpha val="70000"/>
                </a:srgbClr>
              </a:solidFill>
              <a:latin typeface="Calibri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19633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8D562-70C2-B853-F43B-94DB8677C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Mean </a:t>
            </a:r>
            <a:r>
              <a:rPr lang="en-US">
                <a:ea typeface="+mj-lt"/>
                <a:cs typeface="+mj-lt"/>
              </a:rPr>
              <a:t>Difference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>
                <a:ea typeface="+mj-lt"/>
                <a:cs typeface="+mj-lt"/>
              </a:rPr>
              <a:t>Between </a:t>
            </a:r>
            <a:r>
              <a:rPr lang="en-US" dirty="0">
                <a:ea typeface="+mj-lt"/>
                <a:cs typeface="+mj-lt"/>
              </a:rPr>
              <a:t>the </a:t>
            </a:r>
            <a:r>
              <a:rPr lang="en-US">
                <a:ea typeface="+mj-lt"/>
                <a:cs typeface="+mj-lt"/>
              </a:rPr>
              <a:t>Three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>
                <a:ea typeface="+mj-lt"/>
                <a:cs typeface="+mj-lt"/>
              </a:rPr>
              <a:t>Institutions</a:t>
            </a:r>
            <a:endParaRPr lang="en-US"/>
          </a:p>
        </p:txBody>
      </p:sp>
      <p:pic>
        <p:nvPicPr>
          <p:cNvPr id="6" name="Content Placeholder 5" descr="A graph with lines and dots&#10;&#10;Description automatically generated">
            <a:extLst>
              <a:ext uri="{FF2B5EF4-FFF2-40B4-BE49-F238E27FC236}">
                <a16:creationId xmlns:a16="http://schemas.microsoft.com/office/drawing/2014/main" id="{D0E4C529-3127-CABB-3C99-CB0A5B725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172" y="2286000"/>
            <a:ext cx="10122608" cy="3818083"/>
          </a:xfrm>
        </p:spPr>
      </p:pic>
    </p:spTree>
    <p:extLst>
      <p:ext uri="{BB962C8B-B14F-4D97-AF65-F5344CB8AC3E}">
        <p14:creationId xmlns:p14="http://schemas.microsoft.com/office/powerpoint/2010/main" val="1630633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515F49-9B6F-FF0F-535F-AA418653D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Exploratory Average Tuitions and Fees per Region (In-State)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10F1C8-BEE9-AEB2-C854-195868CC2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Two-Year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03F9CC4-91DA-BA2C-011F-DE2AE7C87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Public Four-Year</a:t>
            </a:r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808AA440-0B1A-915B-5A92-00E3C6BB0D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68275" y="3048000"/>
            <a:ext cx="4938888" cy="3048000"/>
          </a:xfrm>
          <a:prstGeom prst="rect">
            <a:avLst/>
          </a:prstGeom>
        </p:spPr>
      </p:pic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244EE500-7B5C-651D-0398-08783169E13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384837" y="3048000"/>
            <a:ext cx="4938888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759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EB4F8-42E0-DA09-D218-97A4E8F71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Exploratory Two-Year Public Institutions per Regions</a:t>
            </a:r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6A99365-380F-83F2-1A13-E1FDC11297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5563" y="2449285"/>
            <a:ext cx="6186473" cy="381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99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D11DF62-B310-6875-60C2-CA53D8FF5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Trends and Patterns for Public Two-Year Institutes</a:t>
            </a:r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784B892-0A1A-0B8E-2C9E-5CCB3AA4241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62000" y="2601413"/>
            <a:ext cx="5151438" cy="3179173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42D60A3-4BA9-A06D-A704-9D76CD98B9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Each region is seeing a positive increase in average tuition and fees over the years. </a:t>
            </a:r>
          </a:p>
        </p:txBody>
      </p:sp>
    </p:spTree>
    <p:extLst>
      <p:ext uri="{BB962C8B-B14F-4D97-AF65-F5344CB8AC3E}">
        <p14:creationId xmlns:p14="http://schemas.microsoft.com/office/powerpoint/2010/main" val="3180096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13194-489C-D0EC-9C99-243F6D6B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Trends and Patterns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A857E-9564-3858-65BA-95242F8A9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Two-Year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79380D-BA9B-1B75-DDCA-57E15F190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Public Four-Year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A6CC2AE-D945-C578-AA6E-D41FA3C957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68275" y="3048000"/>
            <a:ext cx="4938888" cy="3048000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D7F32FB-D0BC-B828-8289-05FEF12EA2D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384837" y="3048000"/>
            <a:ext cx="4938888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074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343A-0715-CFCB-2B34-0EFD8AFC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Statistical Difference For 2-Year Institutions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A752B-5E98-7E98-8D7A-8D5BE453D0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Hypothesis: The average tuition and fees are significantly different among the six regions: Middle States(1), Midwest(2), New England(3), South(6), Southwest(5), and West(6) for the two-year public institutes</a:t>
                </a:r>
              </a:p>
              <a:p>
                <a:pPr lvl="1"/>
                <a:r>
                  <a:rPr lang="en-US" dirty="0"/>
                  <a:t>H0: mu1=mu2=mu3=mu4=mu5=mu6</a:t>
                </a:r>
              </a:p>
              <a:p>
                <a:pPr lvl="1"/>
                <a:r>
                  <a:rPr lang="en-US" dirty="0"/>
                  <a:t>Ha: at least 2 mu are not equal</a:t>
                </a:r>
              </a:p>
              <a:p>
                <a:r>
                  <a:rPr lang="en-US" dirty="0"/>
                  <a:t>Using One-Way ANOVA</a:t>
                </a:r>
              </a:p>
              <a:p>
                <a:pPr lvl="1"/>
                <a:r>
                  <a:rPr lang="en-US" dirty="0"/>
                  <a:t>F = 80.03  and p-value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−16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There is significant difference in the average tuition and fees among the six regions for the two-year public institutes at significant level of 0.05.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A752B-5E98-7E98-8D7A-8D5BE453D0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3" t="-1278" r="-1029" b="-2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0773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9ACB9-70F2-6270-39F3-6A699A73B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difference for 2-year Institutions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811E5-06DF-35AF-491A-640C829F4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average tuitions and fees are significant different between the regions below:</a:t>
            </a:r>
          </a:p>
          <a:p>
            <a:pPr lvl="1"/>
            <a:r>
              <a:rPr lang="en-US" dirty="0"/>
              <a:t>Midwest and Middle States</a:t>
            </a:r>
          </a:p>
          <a:p>
            <a:pPr lvl="1"/>
            <a:r>
              <a:rPr lang="en-US" dirty="0"/>
              <a:t>New England and Midwest</a:t>
            </a:r>
          </a:p>
          <a:p>
            <a:pPr lvl="1"/>
            <a:r>
              <a:rPr lang="en-US" dirty="0"/>
              <a:t>South and Midwest</a:t>
            </a:r>
          </a:p>
          <a:p>
            <a:pPr lvl="1"/>
            <a:r>
              <a:rPr lang="en-US" dirty="0"/>
              <a:t>South and Southwest</a:t>
            </a:r>
          </a:p>
          <a:p>
            <a:pPr lvl="1"/>
            <a:r>
              <a:rPr lang="en-US" dirty="0"/>
              <a:t>West and South</a:t>
            </a:r>
          </a:p>
          <a:p>
            <a:pPr lvl="1"/>
            <a:r>
              <a:rPr lang="en-US" dirty="0"/>
              <a:t>West Southwest</a:t>
            </a:r>
          </a:p>
        </p:txBody>
      </p:sp>
    </p:spTree>
    <p:extLst>
      <p:ext uri="{BB962C8B-B14F-4D97-AF65-F5344CB8AC3E}">
        <p14:creationId xmlns:p14="http://schemas.microsoft.com/office/powerpoint/2010/main" val="3402597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4A539-7DD5-B392-A525-5DF719109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Exploratory Four-Year Public Institutions per Regions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075BAD-96DC-AFF8-598A-374CE5B5C7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2763" y="2286000"/>
            <a:ext cx="6186473" cy="381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392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343A-0715-CFCB-2B34-0EFD8AFC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Statistical Difference For 4-Year Institutions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A752B-5E98-7E98-8D7A-8D5BE453D0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Hypothesis: The average tuition and fees are significantly different among the six regions: Middle States(1), Midwest(2), New England(3), South(6), Southwest(5), and West(6  for the four-year public institutes</a:t>
                </a:r>
              </a:p>
              <a:p>
                <a:pPr lvl="1"/>
                <a:r>
                  <a:rPr lang="en-US" dirty="0"/>
                  <a:t>H0: mu1=mu2=mu3=mu4=mu5=mu6</a:t>
                </a:r>
              </a:p>
              <a:p>
                <a:pPr lvl="1"/>
                <a:r>
                  <a:rPr lang="en-US" dirty="0"/>
                  <a:t>Ha: at least 2 mu are not equal</a:t>
                </a:r>
              </a:p>
              <a:p>
                <a:r>
                  <a:rPr lang="en-US" dirty="0"/>
                  <a:t>Using One-Way ANOVA</a:t>
                </a:r>
              </a:p>
              <a:p>
                <a:pPr lvl="1"/>
                <a:r>
                  <a:rPr lang="en-US" dirty="0"/>
                  <a:t>F = 10.84  and p-value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3.16∗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−9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There is significant difference in the average tuition and fees among the six regions for the four-year public institutes at significant level of 0.05.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A752B-5E98-7E98-8D7A-8D5BE453D0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3" t="-1278" r="-1029" b="-2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5503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9ACB9-70F2-6270-39F3-6A699A73B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Statistical Difference For 4-Year Institutions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811E5-06DF-35AF-491A-640C829F4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average tuitions and fees are significant different between the regions below:</a:t>
            </a:r>
          </a:p>
          <a:p>
            <a:pPr lvl="1"/>
            <a:r>
              <a:rPr lang="en-US" dirty="0"/>
              <a:t>Midwest and Middle States</a:t>
            </a:r>
          </a:p>
          <a:p>
            <a:pPr lvl="1"/>
            <a:r>
              <a:rPr lang="en-US" dirty="0"/>
              <a:t>New England and Midwest</a:t>
            </a:r>
          </a:p>
          <a:p>
            <a:pPr lvl="1"/>
            <a:r>
              <a:rPr lang="en-US" dirty="0"/>
              <a:t>South and Midwest</a:t>
            </a:r>
          </a:p>
          <a:p>
            <a:pPr lvl="1"/>
            <a:r>
              <a:rPr lang="en-US" dirty="0"/>
              <a:t>Southwest and South</a:t>
            </a:r>
          </a:p>
          <a:p>
            <a:pPr lvl="1"/>
            <a:r>
              <a:rPr lang="en-US" dirty="0"/>
              <a:t>West and South</a:t>
            </a:r>
          </a:p>
        </p:txBody>
      </p:sp>
    </p:spTree>
    <p:extLst>
      <p:ext uri="{BB962C8B-B14F-4D97-AF65-F5344CB8AC3E}">
        <p14:creationId xmlns:p14="http://schemas.microsoft.com/office/powerpoint/2010/main" val="663430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635DF-E3CD-97E7-FCE2-05AAFCFF5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Two-Year and Four-Year Institution Comparison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CACFD4-32FF-4CFA-5148-6252C5B522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62000" y="2601413"/>
            <a:ext cx="5151438" cy="31791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B5374-87B5-3D17-F256-66457BABC8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2-year college in New England and Middle States are as expansive as 4-year University in the South, West, and Southwest.</a:t>
            </a:r>
          </a:p>
          <a:p>
            <a:r>
              <a:rPr lang="en-US" dirty="0"/>
              <a:t>2-year college West, Southwest, South, and Midwest have similar tuition increase.</a:t>
            </a:r>
          </a:p>
          <a:p>
            <a:r>
              <a:rPr lang="en-US" dirty="0"/>
              <a:t>Same for 4-year Midwest, Middle States and New England</a:t>
            </a:r>
          </a:p>
        </p:txBody>
      </p:sp>
    </p:spTree>
    <p:extLst>
      <p:ext uri="{BB962C8B-B14F-4D97-AF65-F5344CB8AC3E}">
        <p14:creationId xmlns:p14="http://schemas.microsoft.com/office/powerpoint/2010/main" val="28402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EA0F1-8008-4FBA-87C5-D0AF5639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Average Tuition of Public-Two years among Different States</a:t>
            </a:r>
            <a:endParaRPr lang="en-US"/>
          </a:p>
        </p:txBody>
      </p:sp>
      <p:pic>
        <p:nvPicPr>
          <p:cNvPr id="5" name="Content Placeholder 4" descr="A graph of blue and white bars&#10;&#10;Description automatically generated">
            <a:extLst>
              <a:ext uri="{FF2B5EF4-FFF2-40B4-BE49-F238E27FC236}">
                <a16:creationId xmlns:a16="http://schemas.microsoft.com/office/drawing/2014/main" id="{6EA3E6F4-972B-5CB7-21B0-39965C4B8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6020" y="2286000"/>
            <a:ext cx="10793007" cy="3818083"/>
          </a:xfrm>
        </p:spPr>
      </p:pic>
    </p:spTree>
    <p:extLst>
      <p:ext uri="{BB962C8B-B14F-4D97-AF65-F5344CB8AC3E}">
        <p14:creationId xmlns:p14="http://schemas.microsoft.com/office/powerpoint/2010/main" val="2488676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4008B-37AD-AA2D-84E2-9D39E33CE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Average Tuition of Public-Four years Among Different States</a:t>
            </a:r>
            <a:endParaRPr lang="en-US"/>
          </a:p>
        </p:txBody>
      </p:sp>
      <p:pic>
        <p:nvPicPr>
          <p:cNvPr id="4" name="Content Placeholder 3" descr="A graph of blue and white bars&#10;&#10;Description automatically generated">
            <a:extLst>
              <a:ext uri="{FF2B5EF4-FFF2-40B4-BE49-F238E27FC236}">
                <a16:creationId xmlns:a16="http://schemas.microsoft.com/office/drawing/2014/main" id="{E56EF534-31C3-9D70-661E-E1AA0959D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398" y="2286000"/>
            <a:ext cx="10665204" cy="3818083"/>
          </a:xfrm>
        </p:spPr>
      </p:pic>
    </p:spTree>
    <p:extLst>
      <p:ext uri="{BB962C8B-B14F-4D97-AF65-F5344CB8AC3E}">
        <p14:creationId xmlns:p14="http://schemas.microsoft.com/office/powerpoint/2010/main" val="2501605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F7FA4-E7BA-6364-F758-916A96316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Public Two-year </a:t>
            </a:r>
            <a:r>
              <a:rPr lang="en-US"/>
              <a:t>In District Fees</a:t>
            </a:r>
            <a:br>
              <a:rPr lang="en-US" dirty="0"/>
            </a:br>
            <a:r>
              <a:rPr lang="en-US" dirty="0"/>
              <a:t>(2004-05 to 2023-24)</a:t>
            </a:r>
          </a:p>
        </p:txBody>
      </p:sp>
      <p:pic>
        <p:nvPicPr>
          <p:cNvPr id="6" name="Content Placeholder 5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524D4472-9946-5D47-63C8-80E14ED31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9736" y="2286000"/>
            <a:ext cx="10139480" cy="3818083"/>
          </a:xfrm>
        </p:spPr>
      </p:pic>
    </p:spTree>
    <p:extLst>
      <p:ext uri="{BB962C8B-B14F-4D97-AF65-F5344CB8AC3E}">
        <p14:creationId xmlns:p14="http://schemas.microsoft.com/office/powerpoint/2010/main" val="38914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35676-3E35-0C56-B6C8-85FD9E6F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Public Two-year </a:t>
            </a:r>
            <a:r>
              <a:rPr lang="en-US"/>
              <a:t>In District Fees</a:t>
            </a:r>
            <a:br>
              <a:rPr lang="en-US" dirty="0"/>
            </a:br>
            <a:r>
              <a:rPr lang="en-US" dirty="0"/>
              <a:t>(2004-05 to 2023-24)</a:t>
            </a:r>
          </a:p>
        </p:txBody>
      </p:sp>
      <p:pic>
        <p:nvPicPr>
          <p:cNvPr id="5" name="Content Placeholder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504FDF05-E9E9-2F62-E5AC-73C6070B58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637" y="2286000"/>
            <a:ext cx="5644821" cy="3805988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2B1CC7-28B0-3628-9BEB-AB21F8A50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633" y="2280405"/>
            <a:ext cx="5671306" cy="382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245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52990-F217-31AC-DC74-C8939859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Public Four-year </a:t>
            </a:r>
            <a:r>
              <a:rPr lang="en-US"/>
              <a:t>In District Fees</a:t>
            </a:r>
            <a:br>
              <a:rPr lang="en-US" dirty="0"/>
            </a:br>
            <a:r>
              <a:rPr lang="en-US" dirty="0"/>
              <a:t>(2004-05 to 2023-24)</a:t>
            </a:r>
            <a:endParaRPr lang="en-US"/>
          </a:p>
        </p:txBody>
      </p:sp>
      <p:pic>
        <p:nvPicPr>
          <p:cNvPr id="7" name="Content Placeholder 6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93B8D531-50F4-E00D-7B2C-6D6AA2DCBF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193" y="2261809"/>
            <a:ext cx="5655423" cy="3818083"/>
          </a:xfrm>
        </p:spPr>
      </p:pic>
      <p:pic>
        <p:nvPicPr>
          <p:cNvPr id="8" name="Picture 7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FCDC2027-6DD2-891B-58A0-653BF81F8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948" y="2261355"/>
            <a:ext cx="5775630" cy="382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21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E540-23C8-5F94-8CA1-2862E5634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Average Tuition Fees Comparison between Public Two-year and Public Four-year Schools</a:t>
            </a:r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305B01F-3ECF-E4A7-0C3D-C2168BC5F0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327" y="2394858"/>
            <a:ext cx="6348676" cy="3818083"/>
          </a:xfrm>
        </p:spPr>
      </p:pic>
      <p:pic>
        <p:nvPicPr>
          <p:cNvPr id="8" name="Picture 7" descr="A screenshot of a phone&#10;&#10;Description automatically generated">
            <a:extLst>
              <a:ext uri="{FF2B5EF4-FFF2-40B4-BE49-F238E27FC236}">
                <a16:creationId xmlns:a16="http://schemas.microsoft.com/office/drawing/2014/main" id="{20CAE9A9-D824-9372-C177-AB7402F7C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671" y="3008842"/>
            <a:ext cx="5097992" cy="131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0890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B6B8-1AB6-FEE7-8071-5E2A64D98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Statistical Difference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983C3-67FB-2D3C-4CCF-993B95356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H0: mu(two) = mu(four);Ha: mu(two) != mu(four)</a:t>
            </a: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Paired t-test</a:t>
            </a:r>
          </a:p>
          <a:p>
            <a:r>
              <a:rPr lang="en-US" dirty="0">
                <a:ea typeface="+mn-lt"/>
                <a:cs typeface="+mn-lt"/>
              </a:rPr>
              <a:t> t = 78.982 and p-value &lt; 0.05, reject H0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Therefore, there is evidence to support a significant difference between the average of </a:t>
            </a:r>
            <a:r>
              <a:rPr lang="en-US">
                <a:ea typeface="+mn-lt"/>
                <a:cs typeface="+mn-lt"/>
              </a:rPr>
              <a:t>two-year </a:t>
            </a:r>
            <a:r>
              <a:rPr lang="en-US" dirty="0">
                <a:ea typeface="+mn-lt"/>
                <a:cs typeface="+mn-lt"/>
              </a:rPr>
              <a:t>and </a:t>
            </a:r>
            <a:r>
              <a:rPr lang="en-US">
                <a:ea typeface="+mn-lt"/>
                <a:cs typeface="+mn-lt"/>
              </a:rPr>
              <a:t>four-year </a:t>
            </a:r>
            <a:r>
              <a:rPr lang="en-US" dirty="0">
                <a:ea typeface="+mn-lt"/>
                <a:cs typeface="+mn-lt"/>
              </a:rPr>
              <a:t>schools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640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EF068-46C1-DF3B-5EF8-0E1581F92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Minnesota Data – Tuition Trend</a:t>
            </a:r>
            <a:endParaRPr lang="en-US"/>
          </a:p>
        </p:txBody>
      </p:sp>
      <p:pic>
        <p:nvPicPr>
          <p:cNvPr id="29" name="Content Placeholder 28">
            <a:extLst>
              <a:ext uri="{FF2B5EF4-FFF2-40B4-BE49-F238E27FC236}">
                <a16:creationId xmlns:a16="http://schemas.microsoft.com/office/drawing/2014/main" id="{9E6336AE-D41D-2AA7-EEE9-A6BA549EAB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62000" y="2602894"/>
            <a:ext cx="5151438" cy="3176212"/>
          </a:xfrm>
          <a:prstGeom prst="rect">
            <a:avLst/>
          </a:prstGeom>
        </p:spPr>
      </p:pic>
      <p:pic>
        <p:nvPicPr>
          <p:cNvPr id="32" name="Content Placeholder 31">
            <a:extLst>
              <a:ext uri="{FF2B5EF4-FFF2-40B4-BE49-F238E27FC236}">
                <a16:creationId xmlns:a16="http://schemas.microsoft.com/office/drawing/2014/main" id="{FD9E98D7-BB3C-2000-F60E-7321084FAD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16848" y="2052109"/>
            <a:ext cx="4436198" cy="408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674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40F66-FDE0-82E1-C771-4BBCE7272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Prediction for 2020, 2021, 2022, 2023 Tuition	 MN College</a:t>
            </a:r>
            <a:endParaRPr lang="en-US"/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EA40F69F-A639-BBDE-B5F0-B0501BA994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62000" y="2601413"/>
            <a:ext cx="5151438" cy="3179173"/>
          </a:xfrm>
          <a:prstGeom prst="rect">
            <a:avLst/>
          </a:prstGeom>
        </p:spPr>
      </p:pic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BC27EA42-B0E0-DFFD-C2DB-28B0948C61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78564" y="2601413"/>
            <a:ext cx="5151437" cy="1705886"/>
          </a:xfr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718741C-1B5A-D18E-2110-A8C1A972F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564" y="4482786"/>
            <a:ext cx="4662846" cy="107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8847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4A3E0-9C29-900A-1C4A-A92E7BD54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Prediction for 2020, 2021, 2022, 2023 Tuition	 MN University</a:t>
            </a:r>
            <a:endParaRPr lang="en-US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2EC8F4FD-3CFB-7FD2-25A4-0792A57209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6135" y="2601413"/>
            <a:ext cx="5231879" cy="1780464"/>
          </a:xfr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5CAAD363-0D85-D52B-5C5B-A1EC4B0195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62000" y="2601413"/>
            <a:ext cx="5151438" cy="317917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3169420-881D-BBCC-ECCB-939DEE5F3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135" y="4572001"/>
            <a:ext cx="4567119" cy="105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81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5EE1A-EA00-42B7-4BA5-591508F3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Prediction for 2020, 2021, 2022, 2023 Tuition UoM Twin Cities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8A2B54-1C29-7678-A3BA-9A5523D9B7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62000" y="2601413"/>
            <a:ext cx="5151438" cy="31791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DFA3A4-EB86-6C74-D528-6D35FA088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564" y="4688116"/>
            <a:ext cx="4773608" cy="1023797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B345A63-D845-30EA-0B82-F8584071B4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6278564" y="2612214"/>
            <a:ext cx="5467990" cy="1735197"/>
          </a:xfrm>
        </p:spPr>
      </p:pic>
    </p:spTree>
    <p:extLst>
      <p:ext uri="{BB962C8B-B14F-4D97-AF65-F5344CB8AC3E}">
        <p14:creationId xmlns:p14="http://schemas.microsoft.com/office/powerpoint/2010/main" val="20879329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E2AF8-74A3-0A2A-5DB3-DDA980E0C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</a:t>
            </a:r>
            <a:r>
              <a:rPr lang="en-US"/>
              <a:t>In-state </a:t>
            </a:r>
            <a:r>
              <a:rPr lang="en-US" dirty="0"/>
              <a:t>&amp; </a:t>
            </a:r>
            <a:r>
              <a:rPr lang="en-US"/>
              <a:t>Out-state</a:t>
            </a:r>
            <a:r>
              <a:rPr lang="en-US" dirty="0"/>
              <a:t> tuition</a:t>
            </a:r>
          </a:p>
        </p:txBody>
      </p:sp>
      <p:pic>
        <p:nvPicPr>
          <p:cNvPr id="5" name="Content Placeholder 4" descr="A graph of blue and white bars&#10;&#10;Description automatically generated">
            <a:extLst>
              <a:ext uri="{FF2B5EF4-FFF2-40B4-BE49-F238E27FC236}">
                <a16:creationId xmlns:a16="http://schemas.microsoft.com/office/drawing/2014/main" id="{C0DD87B2-86F4-C28C-F96E-33166F858A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276" y="2286000"/>
            <a:ext cx="5620622" cy="3832460"/>
          </a:xfrm>
        </p:spPr>
      </p:pic>
      <p:pic>
        <p:nvPicPr>
          <p:cNvPr id="6" name="Picture 5" descr="A graph of numbers and letters&#10;&#10;Description automatically generated">
            <a:extLst>
              <a:ext uri="{FF2B5EF4-FFF2-40B4-BE49-F238E27FC236}">
                <a16:creationId xmlns:a16="http://schemas.microsoft.com/office/drawing/2014/main" id="{DF6D0C4B-A8E8-A6C0-FD1E-F68E5011D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275" y="2290852"/>
            <a:ext cx="5064244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4093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159FD-92C9-0344-FDE5-15777065D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Statistical </a:t>
            </a:r>
            <a:r>
              <a:rPr lang="en-US"/>
              <a:t>Difference Between</a:t>
            </a:r>
            <a:r>
              <a:rPr lang="en-US" dirty="0"/>
              <a:t> </a:t>
            </a:r>
            <a:r>
              <a:rPr lang="en-US"/>
              <a:t>In-state </a:t>
            </a:r>
            <a:r>
              <a:rPr lang="en-US" dirty="0"/>
              <a:t>&amp; </a:t>
            </a:r>
            <a:r>
              <a:rPr lang="en-US"/>
              <a:t>Out-state Tuition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4D581-25B4-0121-F736-595146DFA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H0: mu(in) = mu(out); </a:t>
            </a:r>
            <a:r>
              <a:rPr lang="en-US">
                <a:ea typeface="+mn-lt"/>
                <a:cs typeface="+mn-lt"/>
              </a:rPr>
              <a:t>Ha: mu</a:t>
            </a:r>
            <a:r>
              <a:rPr lang="en-US" dirty="0">
                <a:ea typeface="+mn-lt"/>
                <a:cs typeface="+mn-lt"/>
              </a:rPr>
              <a:t>(in) != mu(out)</a:t>
            </a:r>
          </a:p>
          <a:p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Paired t-test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          t = -64.753 and p-value &lt; 0.05, reject H0</a:t>
            </a:r>
          </a:p>
          <a:p>
            <a:r>
              <a:rPr lang="en-US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Therefore, there is evidence to support a significant difference between the average for in-state and out-state tuition</a:t>
            </a:r>
          </a:p>
        </p:txBody>
      </p:sp>
    </p:spTree>
    <p:extLst>
      <p:ext uri="{BB962C8B-B14F-4D97-AF65-F5344CB8AC3E}">
        <p14:creationId xmlns:p14="http://schemas.microsoft.com/office/powerpoint/2010/main" val="1899043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117B9-19F1-02FA-45F0-CF8F2F50A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Mean Difference </a:t>
            </a:r>
            <a:r>
              <a:rPr lang="en-US"/>
              <a:t>Between</a:t>
            </a:r>
            <a:r>
              <a:rPr lang="en-US" dirty="0"/>
              <a:t> In-State &amp; Out-State Tuitions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37F424-3D8E-7B16-6B7F-3EEB9A5D1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886" y="2286000"/>
            <a:ext cx="7321714" cy="3818083"/>
          </a:xfrm>
        </p:spPr>
      </p:pic>
      <p:pic>
        <p:nvPicPr>
          <p:cNvPr id="3" name="Picture 2" descr="A number and text on a white background&#10;&#10;Description automatically generated">
            <a:extLst>
              <a:ext uri="{FF2B5EF4-FFF2-40B4-BE49-F238E27FC236}">
                <a16:creationId xmlns:a16="http://schemas.microsoft.com/office/drawing/2014/main" id="{BF16BFD0-8C8D-57AE-D5A7-F1F86B09A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167" y="3222172"/>
            <a:ext cx="3438525" cy="162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714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CE9A2-55F6-6572-27E5-B8C9AB8E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Correlation </a:t>
            </a:r>
            <a:r>
              <a:rPr lang="en-US"/>
              <a:t>Between Early-career Pay </a:t>
            </a:r>
            <a:r>
              <a:rPr lang="en-US" dirty="0"/>
              <a:t>and Average Tuition for 2018-19</a:t>
            </a:r>
          </a:p>
        </p:txBody>
      </p:sp>
      <p:pic>
        <p:nvPicPr>
          <p:cNvPr id="9" name="Picture 8" descr="A graph of black dots&#10;&#10;Description automatically generated">
            <a:extLst>
              <a:ext uri="{FF2B5EF4-FFF2-40B4-BE49-F238E27FC236}">
                <a16:creationId xmlns:a16="http://schemas.microsoft.com/office/drawing/2014/main" id="{460DE5B5-10A0-A5D2-CC4A-35814C2EC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934" y="2376262"/>
            <a:ext cx="5447847" cy="3798811"/>
          </a:xfrm>
          <a:prstGeom prst="rect">
            <a:avLst/>
          </a:prstGeom>
        </p:spPr>
      </p:pic>
      <p:pic>
        <p:nvPicPr>
          <p:cNvPr id="12" name="Content Placeholder 11" descr="A graph with black dots&#10;&#10;Description automatically generated">
            <a:extLst>
              <a:ext uri="{FF2B5EF4-FFF2-40B4-BE49-F238E27FC236}">
                <a16:creationId xmlns:a16="http://schemas.microsoft.com/office/drawing/2014/main" id="{4B7580C3-2F45-73FF-76BC-EC46E6752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6880" y="2370666"/>
            <a:ext cx="5712143" cy="3805988"/>
          </a:xfrm>
        </p:spPr>
      </p:pic>
    </p:spTree>
    <p:extLst>
      <p:ext uri="{BB962C8B-B14F-4D97-AF65-F5344CB8AC3E}">
        <p14:creationId xmlns:p14="http://schemas.microsoft.com/office/powerpoint/2010/main" val="30887484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733B7-7BF6-33AA-936B-C72C09EE1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Correlation Between Mid-career Pay and </a:t>
            </a:r>
            <a:r>
              <a:rPr lang="en-US"/>
              <a:t>Average Tuition</a:t>
            </a:r>
            <a:r>
              <a:rPr lang="en-US" dirty="0"/>
              <a:t> for 2018-19</a:t>
            </a:r>
            <a:endParaRPr lang="en-US"/>
          </a:p>
        </p:txBody>
      </p:sp>
      <p:pic>
        <p:nvPicPr>
          <p:cNvPr id="3" name="Picture 2" descr="A graph of black dots&#10;&#10;Description automatically generated">
            <a:extLst>
              <a:ext uri="{FF2B5EF4-FFF2-40B4-BE49-F238E27FC236}">
                <a16:creationId xmlns:a16="http://schemas.microsoft.com/office/drawing/2014/main" id="{E97737D7-BFF0-C2A2-E376-D1E6A5572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499" y="2291290"/>
            <a:ext cx="5709861" cy="3811514"/>
          </a:xfrm>
          <a:prstGeom prst="rect">
            <a:avLst/>
          </a:prstGeom>
        </p:spPr>
      </p:pic>
      <p:pic>
        <p:nvPicPr>
          <p:cNvPr id="8" name="Content Placeholder 7" descr="A graph of black dots&#10;&#10;Description automatically generated">
            <a:extLst>
              <a:ext uri="{FF2B5EF4-FFF2-40B4-BE49-F238E27FC236}">
                <a16:creationId xmlns:a16="http://schemas.microsoft.com/office/drawing/2014/main" id="{12999B56-D8B6-F01F-ED1C-C1C503CA86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3595" y="2286000"/>
            <a:ext cx="5723763" cy="3818083"/>
          </a:xfrm>
        </p:spPr>
      </p:pic>
    </p:spTree>
    <p:extLst>
      <p:ext uri="{BB962C8B-B14F-4D97-AF65-F5344CB8AC3E}">
        <p14:creationId xmlns:p14="http://schemas.microsoft.com/office/powerpoint/2010/main" val="40281385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CA954-9E30-1961-BE1E-72E40198B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Correlation </a:t>
            </a:r>
            <a:r>
              <a:rPr lang="en-US" dirty="0"/>
              <a:t>Between Out-state Tuition </a:t>
            </a:r>
            <a:r>
              <a:rPr lang="en-US"/>
              <a:t>and Salary Pay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EFB96C-0EA0-2D5A-7D41-7C2C182F9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Weak positive correlation </a:t>
            </a:r>
            <a:endParaRPr lang="en-US" dirty="0"/>
          </a:p>
        </p:txBody>
      </p:sp>
      <p:pic>
        <p:nvPicPr>
          <p:cNvPr id="3" name="Picture 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2BD8478E-B7CD-3C61-519B-29992DEE2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948" y="2464024"/>
            <a:ext cx="5969152" cy="397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4367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FA14-201C-5876-7C68-0615CCD3D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Correlation Between In-state Tuition and </a:t>
            </a:r>
            <a:r>
              <a:rPr lang="en-US"/>
              <a:t>Salary Pay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3C51FC-B41B-A9AC-9AF2-B59E74A66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Weak</a:t>
            </a:r>
            <a:r>
              <a:rPr lang="en-US">
                <a:solidFill>
                  <a:srgbClr val="FFFFFF">
                    <a:alpha val="70000"/>
                  </a:srgbClr>
                </a:solidFill>
              </a:rPr>
              <a:t> </a:t>
            </a:r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positive correlation  </a:t>
            </a:r>
            <a:endParaRPr lang="en-US" dirty="0"/>
          </a:p>
        </p:txBody>
      </p:sp>
      <p:pic>
        <p:nvPicPr>
          <p:cNvPr id="3" name="Picture 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1937D62A-B12F-88CD-38AA-2AFC3CFA9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698" y="2395158"/>
            <a:ext cx="5627463" cy="39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27060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AnalogousFromRegularSeed_2SEEDS">
      <a:dk1>
        <a:srgbClr val="000000"/>
      </a:dk1>
      <a:lt1>
        <a:srgbClr val="FFFFFF"/>
      </a:lt1>
      <a:dk2>
        <a:srgbClr val="1B2F2E"/>
      </a:dk2>
      <a:lt2>
        <a:srgbClr val="F3F1F0"/>
      </a:lt2>
      <a:accent1>
        <a:srgbClr val="3B9EB1"/>
      </a:accent1>
      <a:accent2>
        <a:srgbClr val="46B196"/>
      </a:accent2>
      <a:accent3>
        <a:srgbClr val="4D7EC3"/>
      </a:accent3>
      <a:accent4>
        <a:srgbClr val="B13B3E"/>
      </a:accent4>
      <a:accent5>
        <a:srgbClr val="C37B4D"/>
      </a:accent5>
      <a:accent6>
        <a:srgbClr val="B19A3B"/>
      </a:accent6>
      <a:hlink>
        <a:srgbClr val="C05944"/>
      </a:hlink>
      <a:folHlink>
        <a:srgbClr val="7F7F7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1830</TotalTime>
  <Words>1149</Words>
  <Application>Microsoft Office PowerPoint</Application>
  <PresentationFormat>Widescreen</PresentationFormat>
  <Paragraphs>137</Paragraphs>
  <Slides>37</Slides>
  <Notes>10</Notes>
  <HiddenSlides>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PebbleVTI</vt:lpstr>
      <vt:lpstr>Education Costs</vt:lpstr>
      <vt:lpstr>Background</vt:lpstr>
      <vt:lpstr>Data Introduction </vt:lpstr>
      <vt:lpstr>Data Summary</vt:lpstr>
      <vt:lpstr>      Data Analysis Methodologies</vt:lpstr>
      <vt:lpstr>       Statistical Summary of TABLE CP-1</vt:lpstr>
      <vt:lpstr>        Tuition Trends </vt:lpstr>
      <vt:lpstr>Statistical Difference in College Tuition</vt:lpstr>
      <vt:lpstr>Mean Difference Between the Three Institutions</vt:lpstr>
      <vt:lpstr>Exploratory Average Tuitions and Fees per Region (In-State)</vt:lpstr>
      <vt:lpstr>Exploratory Two-Year Public Institutions per Regions</vt:lpstr>
      <vt:lpstr>Trends and Patterns for Public Two-Year Institutes</vt:lpstr>
      <vt:lpstr>Trends and Patterns</vt:lpstr>
      <vt:lpstr>Statistical Difference For 2-Year Institutions</vt:lpstr>
      <vt:lpstr>Statistical difference for 2-year Institutions (cont’d)</vt:lpstr>
      <vt:lpstr>Exploratory Four-Year Public Institutions per Regions</vt:lpstr>
      <vt:lpstr>Statistical Difference For 4-Year Institutions</vt:lpstr>
      <vt:lpstr>Statistical Difference For 4-Year Institutions (cont’d)</vt:lpstr>
      <vt:lpstr>Two-Year and Four-Year Institution Comparison</vt:lpstr>
      <vt:lpstr>Average Tuition of Public-Two years among Different States</vt:lpstr>
      <vt:lpstr>Average Tuition of Public-Four years Among Different States</vt:lpstr>
      <vt:lpstr>Public Two-year In District Fees (2004-05 to 2023-24)</vt:lpstr>
      <vt:lpstr>Public Two-year In District Fees (2004-05 to 2023-24)</vt:lpstr>
      <vt:lpstr>Public Four-year In District Fees (2004-05 to 2023-24)</vt:lpstr>
      <vt:lpstr>Average Tuition Fees Comparison between Public Two-year and Public Four-year Schools</vt:lpstr>
      <vt:lpstr>Statistical Difference </vt:lpstr>
      <vt:lpstr>Minnesota Data – Tuition Trend</vt:lpstr>
      <vt:lpstr>Prediction for 2020, 2021, 2022, 2023 Tuition  MN College</vt:lpstr>
      <vt:lpstr>Prediction for 2020, 2021, 2022, 2023 Tuition  MN University</vt:lpstr>
      <vt:lpstr>Prediction for 2020, 2021, 2022, 2023 Tuition UoM Twin Cities</vt:lpstr>
      <vt:lpstr>Average In-state &amp; Out-state tuition</vt:lpstr>
      <vt:lpstr>Statistical Difference Between In-state &amp; Out-state Tuition</vt:lpstr>
      <vt:lpstr>Mean Difference Between In-State &amp; Out-State Tuitions</vt:lpstr>
      <vt:lpstr>Correlation Between Early-career Pay and Average Tuition for 2018-19</vt:lpstr>
      <vt:lpstr>Correlation Between Mid-career Pay and Average Tuition for 2018-19</vt:lpstr>
      <vt:lpstr>Correlation Between Out-state Tuition and Salary Pay</vt:lpstr>
      <vt:lpstr>Correlation Between In-state Tuition and Salary Pay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Thao, Beatrice P</cp:lastModifiedBy>
  <cp:revision>568</cp:revision>
  <dcterms:created xsi:type="dcterms:W3CDTF">2024-03-21T01:47:06Z</dcterms:created>
  <dcterms:modified xsi:type="dcterms:W3CDTF">2024-12-02T02:22:50Z</dcterms:modified>
</cp:coreProperties>
</file>